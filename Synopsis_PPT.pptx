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497" r:id="rId3"/>
    <p:sldId id="499" r:id="rId4"/>
    <p:sldId id="500" r:id="rId5"/>
    <p:sldId id="501" r:id="rId6"/>
    <p:sldId id="508" r:id="rId7"/>
    <p:sldId id="509" r:id="rId8"/>
    <p:sldId id="505" r:id="rId9"/>
    <p:sldId id="503" r:id="rId10"/>
    <p:sldId id="511" r:id="rId11"/>
    <p:sldId id="507" r:id="rId12"/>
    <p:sldId id="510" r:id="rId13"/>
    <p:sldId id="504" r:id="rId14"/>
    <p:sldId id="502" r:id="rId15"/>
    <p:sldId id="506" r:id="rId16"/>
    <p:sldId id="269" r:id="rId17"/>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37" autoAdjust="0"/>
    <p:restoredTop sz="94660"/>
  </p:normalViewPr>
  <p:slideViewPr>
    <p:cSldViewPr>
      <p:cViewPr varScale="1">
        <p:scale>
          <a:sx n="89" d="100"/>
          <a:sy n="89" d="100"/>
        </p:scale>
        <p:origin x="787" y="91"/>
      </p:cViewPr>
      <p:guideLst>
        <p:guide orient="horz" pos="2160"/>
        <p:guide pos="2880"/>
      </p:guideLst>
    </p:cSldViewPr>
  </p:slideViewPr>
  <p:notesTextViewPr>
    <p:cViewPr>
      <p:scale>
        <a:sx n="1" d="1"/>
        <a:sy n="1" d="1"/>
      </p:scale>
      <p:origin x="0" y="0"/>
    </p:cViewPr>
  </p:notesTextViewPr>
  <p:sorterViewPr>
    <p:cViewPr>
      <p:scale>
        <a:sx n="100" d="100"/>
        <a:sy n="100" d="100"/>
      </p:scale>
      <p:origin x="0" y="-95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06-03-2026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61FA2-598C-8287-0DF9-E6FD52263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E7802-C39D-FEF8-FFE4-7EC7988CB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634E-E93A-E05A-17A9-12EB2ED5B0D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EE256A9-6478-D82A-2AEE-7C42734CADE9}"/>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205070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F9BCD-765D-FD85-31B6-FA15C1A77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1A5E1-E118-B60D-5F30-BDF795323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72A36-D5D2-40BE-B486-39C5A79BEA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56E6F62-4AA1-B83C-7486-B7BD44663C34}"/>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2172502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C741-F32C-A65D-C6E9-9851987F9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4D1AF-2074-E4B5-124C-C1B02A82C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7E02F-98D2-F1BF-384F-47DA50605C3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69CC339-34A1-6952-92E4-B580165E04CA}"/>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122293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277129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25D0-F132-E572-9AE0-6892CF7DF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24B96-9966-9684-D5F2-D98047B86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F9BA68-C2BD-C066-40D3-EBCC54AF2E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1F05521-8463-4428-0CD3-DB668C87B4D1}"/>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4119772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06-03-2026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Final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585869558"/>
              </p:ext>
            </p:extLst>
          </p:nvPr>
        </p:nvGraphicFramePr>
        <p:xfrm>
          <a:off x="827584" y="3086001"/>
          <a:ext cx="7344816" cy="1657554"/>
        </p:xfrm>
        <a:graphic>
          <a:graphicData uri="http://schemas.openxmlformats.org/drawingml/2006/table">
            <a:tbl>
              <a:tblPr firstRow="1" bandRow="1">
                <a:tableStyleId>{5C22544A-7EE6-4342-B048-85BDC9FD1C3A}</a:tableStyleId>
              </a:tblPr>
              <a:tblGrid>
                <a:gridCol w="3528208">
                  <a:extLst>
                    <a:ext uri="{9D8B030D-6E8A-4147-A177-3AD203B41FA5}">
                      <a16:colId xmlns:a16="http://schemas.microsoft.com/office/drawing/2014/main" val="3537270469"/>
                    </a:ext>
                  </a:extLst>
                </a:gridCol>
                <a:gridCol w="3816608">
                  <a:extLst>
                    <a:ext uri="{9D8B030D-6E8A-4147-A177-3AD203B41FA5}">
                      <a16:colId xmlns:a16="http://schemas.microsoft.com/office/drawing/2014/main" val="3305024946"/>
                    </a:ext>
                  </a:extLst>
                </a:gridCol>
              </a:tblGrid>
              <a:tr h="828777">
                <a:tc>
                  <a:txBody>
                    <a:bodyPr/>
                    <a:lstStyle/>
                    <a:p>
                      <a:pPr algn="ctr"/>
                      <a:r>
                        <a:rPr lang="en-US" sz="3200" dirty="0"/>
                        <a:t>ROLL</a:t>
                      </a:r>
                    </a:p>
                  </a:txBody>
                  <a:tcPr/>
                </a:tc>
                <a:tc>
                  <a:txBody>
                    <a:bodyPr/>
                    <a:lstStyle/>
                    <a:p>
                      <a:pPr algn="ctr"/>
                      <a:r>
                        <a:rPr lang="en-US" sz="3200" dirty="0"/>
                        <a:t>NAME</a:t>
                      </a:r>
                    </a:p>
                  </a:txBody>
                  <a:tcPr/>
                </a:tc>
                <a:extLst>
                  <a:ext uri="{0D108BD9-81ED-4DB2-BD59-A6C34878D82A}">
                    <a16:rowId xmlns:a16="http://schemas.microsoft.com/office/drawing/2014/main" val="1765898331"/>
                  </a:ext>
                </a:extLst>
              </a:tr>
              <a:tr h="828777">
                <a:tc>
                  <a:txBody>
                    <a:bodyPr/>
                    <a:lstStyle/>
                    <a:p>
                      <a:pPr algn="ctr"/>
                      <a:r>
                        <a:rPr lang="en-US" sz="3200" dirty="0"/>
                        <a:t>2301201112</a:t>
                      </a:r>
                    </a:p>
                  </a:txBody>
                  <a:tcPr/>
                </a:tc>
                <a:tc>
                  <a:txBody>
                    <a:bodyPr/>
                    <a:lstStyle/>
                    <a:p>
                      <a:pPr algn="ctr"/>
                      <a:r>
                        <a:rPr lang="en-US" sz="3200" dirty="0"/>
                        <a:t>AARYAT KHATRI </a:t>
                      </a:r>
                    </a:p>
                  </a:txBody>
                  <a:tcPr/>
                </a:tc>
                <a:extLst>
                  <a:ext uri="{0D108BD9-81ED-4DB2-BD59-A6C34878D82A}">
                    <a16:rowId xmlns:a16="http://schemas.microsoft.com/office/drawing/2014/main" val="417610186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2299287" y="1212054"/>
            <a:ext cx="4659282" cy="707886"/>
          </a:xfrm>
          <a:prstGeom prst="rect">
            <a:avLst/>
          </a:prstGeom>
          <a:noFill/>
        </p:spPr>
        <p:txBody>
          <a:bodyPr wrap="square">
            <a:spAutoFit/>
          </a:bodyPr>
          <a:lstStyle/>
          <a:p>
            <a:pPr lvl="0" algn="ctr">
              <a:buSzPct val="25000"/>
            </a:pPr>
            <a:r>
              <a:rPr lang="en-IN" sz="4000" b="1" dirty="0">
                <a:solidFill>
                  <a:srgbClr val="C00000"/>
                </a:solidFill>
                <a:ea typeface="Cambria" panose="02040503050406030204" pitchFamily="18" charset="0"/>
                <a:cs typeface="Times New Roman" panose="02020603050405020304" pitchFamily="18" charset="0"/>
                <a:sym typeface="Arial"/>
              </a:rPr>
              <a:t>Project Title</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288970"/>
            <a:ext cx="8784976" cy="830997"/>
          </a:xfrm>
          <a:prstGeom prst="rect">
            <a:avLst/>
          </a:prstGeom>
          <a:noFill/>
        </p:spPr>
        <p:txBody>
          <a:bodyPr wrap="square">
            <a:spAutoFit/>
          </a:bodyPr>
          <a:lstStyle/>
          <a:p>
            <a:pPr lvl="0">
              <a:buSzPct val="25000"/>
            </a:pPr>
            <a:r>
              <a:rPr lang="en-IN" sz="2400" b="1" dirty="0">
                <a:solidFill>
                  <a:srgbClr val="0070C0"/>
                </a:solidFill>
                <a:ea typeface="Cambria" panose="02040503050406030204" pitchFamily="18" charset="0"/>
                <a:cs typeface="Times New Roman" panose="02020603050405020304" pitchFamily="18" charset="0"/>
                <a:sym typeface="Arial"/>
              </a:rPr>
              <a:t>Industry Mentor: MR. SANJAY SAINI </a:t>
            </a:r>
          </a:p>
          <a:p>
            <a:pPr lvl="0">
              <a:buSzPct val="25000"/>
            </a:pPr>
            <a:r>
              <a:rPr lang="en-IN" sz="2400" b="1" dirty="0">
                <a:solidFill>
                  <a:srgbClr val="0070C0"/>
                </a:solidFill>
                <a:ea typeface="Cambria" panose="02040503050406030204" pitchFamily="18" charset="0"/>
                <a:cs typeface="Times New Roman" panose="02020603050405020304" pitchFamily="18" charset="0"/>
                <a:sym typeface="Arial"/>
              </a:rPr>
              <a:t>Faculty Mentor: MS. VANDNA BATRA</a:t>
            </a: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FA05A05-DB21-4118-B93C-56854A31D56A}"/>
              </a:ext>
            </a:extLst>
          </p:cNvPr>
          <p:cNvSpPr txBox="1"/>
          <p:nvPr/>
        </p:nvSpPr>
        <p:spPr>
          <a:xfrm>
            <a:off x="142999" y="1188908"/>
            <a:ext cx="8640960" cy="5293757"/>
          </a:xfrm>
          <a:prstGeom prst="rect">
            <a:avLst/>
          </a:prstGeom>
          <a:noFill/>
        </p:spPr>
        <p:txBody>
          <a:bodyPr wrap="square" rtlCol="0">
            <a:spAutoFit/>
          </a:bodyPr>
          <a:lstStyle/>
          <a:p>
            <a:r>
              <a:rPr lang="en-US" sz="2000" dirty="0"/>
              <a:t>Smart Scan is created to solve the common problem of handling physical and digital receipts that often get misplaced, damaged, or remain unorganized. The system allows users to upload their receipts by taking a photo or selecting a file, and the important details such as the client name, date, total amount, taxes, and items are identified and recorded in a more organized way. Once the receipt information is stored, users can easily view, search, and filter their records whenever needed. The system also helps in keeping all receipts arranged properly so that users can review their spending and maintain a clear financial history.</a:t>
            </a:r>
          </a:p>
          <a:p>
            <a:r>
              <a:rPr lang="en-US" sz="2000" dirty="0"/>
              <a:t>The aim of Smart Scan is to reduce manual effort, keep receipts safe in one place, and make it easier for users to manage their expenses without dealing with paper clutter. It provides a simple and convenient way for users to access their past receipts at any time, making daily financial tracking smoother. By organizing all receipts digitally, the system helps users stay more aware of their spending habits and maintain better financial discipline. Overall, Smart Scan offers a clean and user-friendly method for managing receipts without relying on complicated tools or processes</a:t>
            </a:r>
            <a:r>
              <a:rPr lang="en-US" dirty="0"/>
              <a:t>.</a:t>
            </a:r>
          </a:p>
          <a:p>
            <a:endParaRPr lang="en-IN" dirty="0"/>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40D2744-6298-A7BF-D6F6-A1A045F6702B}"/>
              </a:ext>
            </a:extLst>
          </p:cNvPr>
          <p:cNvSpPr txBox="1"/>
          <p:nvPr/>
        </p:nvSpPr>
        <p:spPr>
          <a:xfrm>
            <a:off x="179512" y="1330745"/>
            <a:ext cx="8640960" cy="4678204"/>
          </a:xfrm>
          <a:prstGeom prst="rect">
            <a:avLst/>
          </a:prstGeom>
          <a:noFill/>
        </p:spPr>
        <p:txBody>
          <a:bodyPr wrap="square" rtlCol="0">
            <a:spAutoFit/>
          </a:bodyPr>
          <a:lstStyle/>
          <a:p>
            <a:r>
              <a:rPr lang="en-US" sz="2000" dirty="0"/>
              <a:t>To develop a fully automated system that can capture and process receipts with minimal user interaction.</a:t>
            </a:r>
          </a:p>
          <a:p>
            <a:r>
              <a:rPr lang="en-US" sz="2000" dirty="0"/>
              <a:t>To use OCR technology for accurately reading and interpreting receipts from various formats such as JPEG, PNG, PDF, and HEIC.</a:t>
            </a:r>
          </a:p>
          <a:p>
            <a:r>
              <a:rPr lang="en-US" sz="2000" dirty="0"/>
              <a:t>To categorize expenses automatically based on merchant type, transaction amount, and contextual clues extracted through AI models.</a:t>
            </a:r>
          </a:p>
          <a:p>
            <a:r>
              <a:rPr lang="en-US" sz="2000" dirty="0"/>
              <a:t>To reduce paper usage and physical clutter by digitizing receipts and maintaining long-term storage through cloud infrastructure.</a:t>
            </a:r>
          </a:p>
          <a:p>
            <a:r>
              <a:rPr lang="en-US" sz="2000" dirty="0"/>
              <a:t>To generate meaningful insights such as monthly summaries, top spending categories, and irregular spending patterns.</a:t>
            </a:r>
          </a:p>
          <a:p>
            <a:r>
              <a:rPr lang="en-US" sz="2000" dirty="0"/>
              <a:t>To improve accessibility by allowing users to log in securely, retrieve past receipts, filter data by category, and export financial summaries if required.</a:t>
            </a:r>
          </a:p>
          <a:p>
            <a:r>
              <a:rPr lang="en-US" sz="2000" dirty="0"/>
              <a:t>These objectives ensure that Smart Scan delivers a comprehensive, intelligent, and user-centric digital finance solution.</a:t>
            </a:r>
          </a:p>
          <a:p>
            <a:endParaRPr lang="en-IN" dirty="0"/>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9917E3-5F16-C25A-73F3-3A986FC5725A}"/>
              </a:ext>
            </a:extLst>
          </p:cNvPr>
          <p:cNvSpPr txBox="1"/>
          <p:nvPr/>
        </p:nvSpPr>
        <p:spPr>
          <a:xfrm>
            <a:off x="251520" y="1196752"/>
            <a:ext cx="8424936" cy="5293757"/>
          </a:xfrm>
          <a:prstGeom prst="rect">
            <a:avLst/>
          </a:prstGeom>
          <a:noFill/>
        </p:spPr>
        <p:txBody>
          <a:bodyPr wrap="square" rtlCol="0">
            <a:spAutoFit/>
          </a:bodyPr>
          <a:lstStyle/>
          <a:p>
            <a:r>
              <a:rPr lang="en-US" sz="2000" dirty="0"/>
              <a:t>Smart Scan provides a holistic suite of features tailored to automate and simplify receipt management.</a:t>
            </a:r>
          </a:p>
          <a:p>
            <a:r>
              <a:rPr lang="en-US" sz="2000" b="1" dirty="0"/>
              <a:t>AI-Based Data Extraction:</a:t>
            </a:r>
            <a:r>
              <a:rPr lang="en-US" sz="2000" dirty="0"/>
              <a:t> Uses AI algorithms to pull structured data such as merchant, date, taxes, line items, and total amount.</a:t>
            </a:r>
          </a:p>
          <a:p>
            <a:r>
              <a:rPr lang="en-US" sz="2000" b="1" dirty="0"/>
              <a:t>High-Accuracy OCR Support:</a:t>
            </a:r>
            <a:r>
              <a:rPr lang="en-US" sz="2000" dirty="0"/>
              <a:t> Reads printed and digital text across different receipt types, ensuring reliable accuracy even with unclear prints.</a:t>
            </a:r>
          </a:p>
          <a:p>
            <a:r>
              <a:rPr lang="en-US" sz="2000" b="1" dirty="0"/>
              <a:t>Multi-Format Receipt Support:</a:t>
            </a:r>
            <a:r>
              <a:rPr lang="en-US" sz="2000" dirty="0"/>
              <a:t> Capable of handling uploads of JPG, PNG, PDF, HEIF, TIFF, and other digital receipt formats.</a:t>
            </a:r>
          </a:p>
          <a:p>
            <a:r>
              <a:rPr lang="en-US" sz="2000" b="1" dirty="0"/>
              <a:t>Cloud-Based Storage &amp; Backup:</a:t>
            </a:r>
            <a:r>
              <a:rPr lang="en-US" sz="2000" dirty="0"/>
              <a:t> Stores all receipts and extracted data securely using </a:t>
            </a:r>
            <a:r>
              <a:rPr lang="en-US" sz="2000" dirty="0" err="1"/>
              <a:t>Firestore</a:t>
            </a:r>
            <a:r>
              <a:rPr lang="en-US" sz="2000" dirty="0"/>
              <a:t> and Firebase Cloud Storage.</a:t>
            </a:r>
          </a:p>
          <a:p>
            <a:r>
              <a:rPr lang="en-US" sz="2000" b="1" dirty="0"/>
              <a:t>User Authentication:</a:t>
            </a:r>
            <a:r>
              <a:rPr lang="en-US" sz="2000" dirty="0"/>
              <a:t> Secure login using Firebase Authentication (Google Login).</a:t>
            </a:r>
          </a:p>
          <a:p>
            <a:r>
              <a:rPr lang="en-US" sz="2000" b="1" dirty="0"/>
              <a:t>Unified Dashboard:</a:t>
            </a:r>
            <a:r>
              <a:rPr lang="en-US" sz="2000" dirty="0"/>
              <a:t> Provides a clear overview of categorized receipts, spending summaries, monthly breakdowns, pie charts, and trends.</a:t>
            </a:r>
          </a:p>
          <a:p>
            <a:r>
              <a:rPr lang="en-US" sz="2000" b="1" dirty="0"/>
              <a:t>Wallet Sync Simulation:</a:t>
            </a:r>
            <a:r>
              <a:rPr lang="en-US" sz="2000" dirty="0"/>
              <a:t> Matches receipts with mock wallet data stored in </a:t>
            </a:r>
            <a:r>
              <a:rPr lang="en-US" sz="2000" dirty="0" err="1"/>
              <a:t>Firestore</a:t>
            </a:r>
            <a:r>
              <a:rPr lang="en-US" sz="2000" dirty="0"/>
              <a:t> to ensure completeness of financial tracking.</a:t>
            </a:r>
          </a:p>
          <a:p>
            <a:endParaRPr lang="en-IN" dirty="0"/>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984F7-2725-A3A8-0E27-7D5E7663390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186008-1608-D498-71CA-AB1EB7F1AC3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9C9CC355-C7C7-D014-525F-2268BD68EDCC}"/>
              </a:ext>
            </a:extLst>
          </p:cNvPr>
          <p:cNvSpPr>
            <a:spLocks noChangeArrowheads="1"/>
          </p:cNvSpPr>
          <p:nvPr/>
        </p:nvSpPr>
        <p:spPr bwMode="auto">
          <a:xfrm>
            <a:off x="179512" y="151593"/>
            <a:ext cx="48245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Progress Summary</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B1EF2520-3D14-4221-8B83-F4BACCD423B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81BFEED-4B01-F6E4-3D2F-6BE4EABF8E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422DBCD-F345-B34A-F58B-960955F0BAA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119DF90-AA7D-9EEC-0B22-3EB4A0F0BA11}"/>
              </a:ext>
            </a:extLst>
          </p:cNvPr>
          <p:cNvSpPr txBox="1"/>
          <p:nvPr/>
        </p:nvSpPr>
        <p:spPr>
          <a:xfrm>
            <a:off x="251520" y="1196752"/>
            <a:ext cx="8424936" cy="4985980"/>
          </a:xfrm>
          <a:prstGeom prst="rect">
            <a:avLst/>
          </a:prstGeom>
          <a:noFill/>
        </p:spPr>
        <p:txBody>
          <a:bodyPr wrap="square" rtlCol="0">
            <a:spAutoFit/>
          </a:bodyPr>
          <a:lstStyle/>
          <a:p>
            <a:r>
              <a:rPr lang="en-US" sz="2000" dirty="0"/>
              <a:t>• Identified the common problem of managing and storing physical and digital receipts in daily life.</a:t>
            </a:r>
            <a:br>
              <a:rPr lang="en-US" sz="2000" dirty="0"/>
            </a:br>
            <a:r>
              <a:rPr lang="en-US" sz="2000" dirty="0"/>
              <a:t>• Finalized the concept of Smart Scan as a digital receipt management solution.</a:t>
            </a:r>
            <a:br>
              <a:rPr lang="en-US" sz="2000" dirty="0"/>
            </a:br>
            <a:r>
              <a:rPr lang="en-US" sz="2000" dirty="0"/>
              <a:t>• Studied different approaches used in receipt scanning and expense tracking applications.</a:t>
            </a:r>
            <a:br>
              <a:rPr lang="en-US" sz="2000" dirty="0"/>
            </a:br>
            <a:r>
              <a:rPr lang="en-US" sz="2000" dirty="0"/>
              <a:t>• Understood how OCR technology can help in extracting important information from receipts.</a:t>
            </a:r>
            <a:br>
              <a:rPr lang="en-US" sz="2000" dirty="0"/>
            </a:br>
            <a:r>
              <a:rPr lang="en-US" sz="2000" dirty="0"/>
              <a:t>• Designed the basic workflow of the system including receipt upload, data extraction, storage, and retrieval.</a:t>
            </a:r>
            <a:br>
              <a:rPr lang="en-US" sz="2000" dirty="0"/>
            </a:br>
            <a:r>
              <a:rPr lang="en-US" sz="2000" dirty="0"/>
              <a:t>• Identified simple technologies required for building the project such as HTML, CSS, JavaScript, OCR tools, and cloud storage.</a:t>
            </a:r>
            <a:br>
              <a:rPr lang="en-US" sz="2000" dirty="0"/>
            </a:br>
            <a:r>
              <a:rPr lang="en-US" sz="2000" dirty="0"/>
              <a:t>• Prepared initial documentation including project synopsis and presentation structure.</a:t>
            </a:r>
            <a:br>
              <a:rPr lang="en-US" sz="2000" dirty="0"/>
            </a:br>
            <a:r>
              <a:rPr lang="en-US" sz="2000" dirty="0"/>
              <a:t>• Planned the basic user interaction flow for uploading, viewing, and organizing receipts.</a:t>
            </a:r>
          </a:p>
          <a:p>
            <a:endParaRPr lang="en-IN" dirty="0"/>
          </a:p>
        </p:txBody>
      </p:sp>
    </p:spTree>
    <p:extLst>
      <p:ext uri="{BB962C8B-B14F-4D97-AF65-F5344CB8AC3E}">
        <p14:creationId xmlns:p14="http://schemas.microsoft.com/office/powerpoint/2010/main" val="390071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E0758-7E45-CA12-9B33-E35DFACE9C8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1515EC-9C00-EC64-036E-DDB7E3416A3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BB68390-0432-6ED9-1ADA-15C0B3FAF28C}"/>
              </a:ext>
            </a:extLst>
          </p:cNvPr>
          <p:cNvSpPr>
            <a:spLocks noChangeArrowheads="1"/>
          </p:cNvSpPr>
          <p:nvPr/>
        </p:nvSpPr>
        <p:spPr bwMode="auto">
          <a:xfrm>
            <a:off x="179512" y="51883"/>
            <a:ext cx="885698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Detailed Progress- Development Phase</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5F2A4B6-5260-4A6F-7896-B06C423DD6F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7097723-176E-5355-5708-E5EBB0E414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74CF3D2-C89A-17AC-B5BC-AB4E95E06C1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9334A91-3F29-2D08-101C-E1FC202CCE49}"/>
              </a:ext>
            </a:extLst>
          </p:cNvPr>
          <p:cNvSpPr txBox="1"/>
          <p:nvPr/>
        </p:nvSpPr>
        <p:spPr>
          <a:xfrm>
            <a:off x="251520" y="1196752"/>
            <a:ext cx="8424936" cy="4708981"/>
          </a:xfrm>
          <a:prstGeom prst="rect">
            <a:avLst/>
          </a:prstGeom>
          <a:noFill/>
        </p:spPr>
        <p:txBody>
          <a:bodyPr wrap="square" rtlCol="0">
            <a:spAutoFit/>
          </a:bodyPr>
          <a:lstStyle/>
          <a:p>
            <a:r>
              <a:rPr lang="en-US" sz="2000" dirty="0"/>
              <a:t>• Created the overall architecture and workflow for the Smart Scan system.</a:t>
            </a:r>
            <a:br>
              <a:rPr lang="en-US" sz="2000" dirty="0"/>
            </a:br>
            <a:r>
              <a:rPr lang="en-US" sz="2000" dirty="0"/>
              <a:t>• Designed the receipt upload process where users can capture images or upload files directly.</a:t>
            </a:r>
            <a:br>
              <a:rPr lang="en-US" sz="2000" dirty="0"/>
            </a:br>
            <a:r>
              <a:rPr lang="en-US" sz="2000" dirty="0"/>
              <a:t>• Explored OCR methods for reading text from receipt images such as date, merchant name, and total amount.</a:t>
            </a:r>
            <a:br>
              <a:rPr lang="en-US" sz="2000" dirty="0"/>
            </a:br>
            <a:r>
              <a:rPr lang="en-US" sz="2000" dirty="0"/>
              <a:t>• Planned how the extracted information will be stored in an organized format in the database.</a:t>
            </a:r>
            <a:br>
              <a:rPr lang="en-US" sz="2000" dirty="0"/>
            </a:br>
            <a:r>
              <a:rPr lang="en-US" sz="2000" dirty="0"/>
              <a:t>• Developed the idea of categorizing receipts into groups like groceries, travel, shopping, utilities, and food.</a:t>
            </a:r>
            <a:br>
              <a:rPr lang="en-US" sz="2000" dirty="0"/>
            </a:br>
            <a:r>
              <a:rPr lang="en-US" sz="2000" dirty="0"/>
              <a:t>• Designed a simple interface layout where users can easily upload and manage receipts.</a:t>
            </a:r>
            <a:br>
              <a:rPr lang="en-US" sz="2000" dirty="0"/>
            </a:br>
            <a:r>
              <a:rPr lang="en-US" sz="2000" dirty="0"/>
              <a:t>• Worked on defining the structure for storing both receipt images and extracted data.</a:t>
            </a:r>
            <a:br>
              <a:rPr lang="en-US" sz="2000" dirty="0"/>
            </a:br>
            <a:r>
              <a:rPr lang="en-US" sz="2000" dirty="0"/>
              <a:t>• Ensured that the system concept focuses on simplicity, usability, and easy access for users.</a:t>
            </a:r>
          </a:p>
        </p:txBody>
      </p:sp>
    </p:spTree>
    <p:extLst>
      <p:ext uri="{BB962C8B-B14F-4D97-AF65-F5344CB8AC3E}">
        <p14:creationId xmlns:p14="http://schemas.microsoft.com/office/powerpoint/2010/main" val="259311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7"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59AC123-1FF4-759B-44D8-95C077A7D7D5}"/>
              </a:ext>
            </a:extLst>
          </p:cNvPr>
          <p:cNvSpPr txBox="1"/>
          <p:nvPr/>
        </p:nvSpPr>
        <p:spPr>
          <a:xfrm>
            <a:off x="103415" y="1092267"/>
            <a:ext cx="8606747" cy="5355312"/>
          </a:xfrm>
          <a:prstGeom prst="rect">
            <a:avLst/>
          </a:prstGeom>
          <a:noFill/>
        </p:spPr>
        <p:txBody>
          <a:bodyPr wrap="square">
            <a:spAutoFit/>
          </a:bodyPr>
          <a:lstStyle/>
          <a:p>
            <a:r>
              <a:rPr lang="en-IN" b="1" dirty="0"/>
              <a:t>Requirement Analysis:</a:t>
            </a:r>
            <a:r>
              <a:rPr lang="en-IN" dirty="0"/>
              <a:t> Studying challenges in manual receipt management and identifying essential system components.</a:t>
            </a:r>
          </a:p>
          <a:p>
            <a:r>
              <a:rPr lang="en-IN" b="1" dirty="0"/>
              <a:t>Data Collection:</a:t>
            </a:r>
            <a:r>
              <a:rPr lang="en-IN" dirty="0"/>
              <a:t> Gathering various receipt samples (printed, digital, faded, multi-item) for testing OCR accuracy.</a:t>
            </a:r>
          </a:p>
          <a:p>
            <a:r>
              <a:rPr lang="en-IN" b="1" dirty="0"/>
              <a:t>Frontend Development:</a:t>
            </a:r>
            <a:r>
              <a:rPr lang="en-IN" dirty="0"/>
              <a:t> Designing user-friendly interfaces for uploading receipts, viewing summaries, and navigating categories.</a:t>
            </a:r>
          </a:p>
          <a:p>
            <a:r>
              <a:rPr lang="en-IN" b="1" dirty="0"/>
              <a:t>Backend Development:</a:t>
            </a:r>
            <a:r>
              <a:rPr lang="en-IN" dirty="0"/>
              <a:t> Implementing Firebase Cloud Functions for data processing, validation, and categorization logic.</a:t>
            </a:r>
          </a:p>
          <a:p>
            <a:r>
              <a:rPr lang="en-IN" b="1" dirty="0"/>
              <a:t>OCR Integration:</a:t>
            </a:r>
            <a:r>
              <a:rPr lang="en-IN" dirty="0"/>
              <a:t> Connecting OCR to extract detailed text including totals, item names, and GST/VAT values.</a:t>
            </a:r>
          </a:p>
          <a:p>
            <a:r>
              <a:rPr lang="en-IN" b="1" dirty="0"/>
              <a:t>AI Parsing Pipeline:</a:t>
            </a:r>
            <a:r>
              <a:rPr lang="en-IN" dirty="0"/>
              <a:t> Processing the OCR output using AI to identify key fields, recognize categories, and detect anomalies.</a:t>
            </a:r>
          </a:p>
          <a:p>
            <a:r>
              <a:rPr lang="en-IN" b="1" dirty="0"/>
              <a:t>Database Structuring:</a:t>
            </a:r>
            <a:r>
              <a:rPr lang="en-IN" dirty="0"/>
              <a:t> Designing </a:t>
            </a:r>
            <a:r>
              <a:rPr lang="en-IN" dirty="0" err="1"/>
              <a:t>Firestore</a:t>
            </a:r>
            <a:r>
              <a:rPr lang="en-IN" dirty="0"/>
              <a:t> collections for receipts, categories, spending trends, and user profiles.</a:t>
            </a:r>
          </a:p>
          <a:p>
            <a:r>
              <a:rPr lang="en-IN" b="1" dirty="0"/>
              <a:t>Dashboard &amp; Analytics:</a:t>
            </a:r>
            <a:r>
              <a:rPr lang="en-IN" dirty="0"/>
              <a:t> Creating dynamic charts and summaries for monthly spending insights.</a:t>
            </a:r>
          </a:p>
          <a:p>
            <a:r>
              <a:rPr lang="en-IN" b="1" dirty="0"/>
              <a:t>Testing &amp; Optimization:</a:t>
            </a:r>
            <a:r>
              <a:rPr lang="en-IN" dirty="0"/>
              <a:t> Checking accuracy, speed, categorization performance, and UI responsiveness across different devices.</a:t>
            </a:r>
          </a:p>
          <a:p>
            <a:pPr algn="l">
              <a:buFont typeface="Arial" panose="020B0604020202020204" pitchFamily="34" charset="0"/>
              <a:buChar char="•"/>
            </a:pPr>
            <a:endParaRPr lang="en-US" b="0" i="0" dirty="0">
              <a:solidFill>
                <a:srgbClr val="374151"/>
              </a:solidFill>
              <a:effectLst/>
              <a:latin typeface="Söhne"/>
            </a:endParaRPr>
          </a:p>
        </p:txBody>
      </p:sp>
    </p:spTree>
    <p:extLst>
      <p:ext uri="{BB962C8B-B14F-4D97-AF65-F5344CB8AC3E}">
        <p14:creationId xmlns:p14="http://schemas.microsoft.com/office/powerpoint/2010/main" val="109987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p:cNvSpPr>
            <a:spLocks noChangeArrowheads="1"/>
          </p:cNvSpPr>
          <p:nvPr/>
        </p:nvSpPr>
        <p:spPr bwMode="auto">
          <a:xfrm>
            <a:off x="117336" y="4029"/>
            <a:ext cx="896686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a:t>
            </a:r>
            <a:r>
              <a:rPr lang="en-US" sz="2800" b="1" kern="100" dirty="0">
                <a:effectLst/>
                <a:latin typeface="Verdana" panose="020B0604030504040204" pitchFamily="34" charset="0"/>
                <a:ea typeface="Times New Roman" panose="02020603050405020304" pitchFamily="18" charset="0"/>
                <a:cs typeface="Times New Roman" panose="02020603050405020304" pitchFamily="18" charset="0"/>
              </a:rPr>
              <a:t>diagram</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/Architecture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C247618-ABA3-80EE-7D03-3D5BCA34FC1E}"/>
              </a:ext>
            </a:extLst>
          </p:cNvPr>
          <p:cNvSpPr txBox="1"/>
          <p:nvPr/>
        </p:nvSpPr>
        <p:spPr>
          <a:xfrm>
            <a:off x="177133" y="1101045"/>
            <a:ext cx="8640960" cy="5324535"/>
          </a:xfrm>
          <a:prstGeom prst="rect">
            <a:avLst/>
          </a:prstGeom>
          <a:noFill/>
        </p:spPr>
        <p:txBody>
          <a:bodyPr wrap="square" rtlCol="0">
            <a:spAutoFit/>
          </a:bodyPr>
          <a:lstStyle/>
          <a:p>
            <a:r>
              <a:rPr lang="en-US" sz="2000" dirty="0"/>
              <a:t>• Backend Logic Layer: After the AI interpretation step, Cloud Functions process the extracted data and perform validation checks.</a:t>
            </a:r>
            <a:br>
              <a:rPr lang="en-US" sz="2000" dirty="0"/>
            </a:br>
            <a:r>
              <a:rPr lang="en-US" sz="2000" dirty="0"/>
              <a:t>• These functions ensure that the information is properly formatted and structured before being stored in the database.</a:t>
            </a:r>
            <a:br>
              <a:rPr lang="en-US" sz="2000" dirty="0"/>
            </a:br>
            <a:r>
              <a:rPr lang="en-US" sz="2000" dirty="0"/>
              <a:t>• Backend logic also helps maintain consistency in the data so that all receipts follow a similar format.</a:t>
            </a:r>
            <a:br>
              <a:rPr lang="en-US" sz="2000" dirty="0"/>
            </a:br>
            <a:r>
              <a:rPr lang="en-US" sz="2000" dirty="0"/>
              <a:t>• Database Layer: The structured receipt data is then saved in </a:t>
            </a:r>
            <a:r>
              <a:rPr lang="en-US" sz="2000" dirty="0" err="1"/>
              <a:t>Firestore</a:t>
            </a:r>
            <a:r>
              <a:rPr lang="en-US" sz="2000" dirty="0"/>
              <a:t>, which is a NoSQL database used for storing and managing application data.</a:t>
            </a:r>
            <a:br>
              <a:rPr lang="en-US" sz="2000" dirty="0"/>
            </a:br>
            <a:r>
              <a:rPr lang="en-US" sz="2000" dirty="0"/>
              <a:t>• </a:t>
            </a:r>
            <a:r>
              <a:rPr lang="en-US" sz="2000" dirty="0" err="1"/>
              <a:t>Firestore</a:t>
            </a:r>
            <a:r>
              <a:rPr lang="en-US" sz="2000" dirty="0"/>
              <a:t> allows fast queries and enables real-time access to stored receipt records whenever users need them.</a:t>
            </a:r>
            <a:br>
              <a:rPr lang="en-US" sz="2000" dirty="0"/>
            </a:br>
            <a:r>
              <a:rPr lang="en-US" sz="2000" dirty="0"/>
              <a:t>• Sync Layer: The system compares stored receipts with simulated wallet transactions to detect possible missing entries or duplicate records.</a:t>
            </a:r>
            <a:br>
              <a:rPr lang="en-US" sz="2000" dirty="0"/>
            </a:br>
            <a:r>
              <a:rPr lang="en-US" sz="2000" dirty="0"/>
              <a:t>• This comparison helps improve the accuracy of the stored financial information.</a:t>
            </a:r>
            <a:br>
              <a:rPr lang="en-US" sz="2000" dirty="0"/>
            </a:br>
            <a:r>
              <a:rPr lang="en-US" sz="2000" dirty="0"/>
              <a:t>• Frontend Dashboard: Users can view their receipts through an interactive interface where they can access stored receipts, spending summaries, and trends.</a:t>
            </a:r>
            <a:br>
              <a:rPr lang="en-US" sz="2000" dirty="0"/>
            </a:br>
            <a:r>
              <a:rPr lang="en-US" sz="2000" dirty="0"/>
              <a:t>• The dashboard provides a clear overview of the user’s financial records and helps users review their stored receipt information easily.</a:t>
            </a:r>
          </a:p>
        </p:txBody>
      </p:sp>
    </p:spTree>
    <p:extLst>
      <p:ext uri="{BB962C8B-B14F-4D97-AF65-F5344CB8AC3E}">
        <p14:creationId xmlns:p14="http://schemas.microsoft.com/office/powerpoint/2010/main" val="209337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C3DE1-6980-51C7-AD04-924596F8B0E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C034A24-E459-EC2D-C031-2FA23ED5096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08BF2C1A-DF71-18BD-2B8D-E8A37D98412D}"/>
              </a:ext>
            </a:extLst>
          </p:cNvPr>
          <p:cNvSpPr>
            <a:spLocks noChangeArrowheads="1"/>
          </p:cNvSpPr>
          <p:nvPr/>
        </p:nvSpPr>
        <p:spPr bwMode="auto">
          <a:xfrm>
            <a:off x="117336" y="4029"/>
            <a:ext cx="896686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a:t>
            </a:r>
            <a:r>
              <a:rPr lang="en-US" sz="2800" b="1" kern="100" dirty="0">
                <a:effectLst/>
                <a:latin typeface="Verdana" panose="020B0604030504040204" pitchFamily="34" charset="0"/>
                <a:ea typeface="Times New Roman" panose="02020603050405020304" pitchFamily="18" charset="0"/>
                <a:cs typeface="Times New Roman" panose="02020603050405020304" pitchFamily="18" charset="0"/>
              </a:rPr>
              <a:t>diagram</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/Architecture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3A224DF0-751D-7DFE-480C-8335DF3BF79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B812EE-F755-6357-6003-45FE9C9423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404B46C-E9E1-7504-FFF0-D87099508F7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A765AF7-A09E-7DFD-A2ED-ED4464C0B022}"/>
              </a:ext>
            </a:extLst>
          </p:cNvPr>
          <p:cNvSpPr txBox="1"/>
          <p:nvPr/>
        </p:nvSpPr>
        <p:spPr>
          <a:xfrm>
            <a:off x="177133" y="1101045"/>
            <a:ext cx="8640960" cy="5632311"/>
          </a:xfrm>
          <a:prstGeom prst="rect">
            <a:avLst/>
          </a:prstGeom>
          <a:noFill/>
        </p:spPr>
        <p:txBody>
          <a:bodyPr wrap="square" rtlCol="0">
            <a:spAutoFit/>
          </a:bodyPr>
          <a:lstStyle/>
          <a:p>
            <a:r>
              <a:rPr lang="en-US" sz="2000" dirty="0"/>
              <a:t>Smart Scan follows a modular, cloud-powered architecture designed for reliability and scalability:</a:t>
            </a:r>
          </a:p>
          <a:p>
            <a:r>
              <a:rPr lang="en-US" sz="2000" b="1" dirty="0"/>
              <a:t>Receipt Capture Layer:</a:t>
            </a:r>
            <a:r>
              <a:rPr lang="en-US" sz="2000" dirty="0"/>
              <a:t> Users upload receipts via camera or file upload on the web/mobile interface.</a:t>
            </a:r>
          </a:p>
          <a:p>
            <a:r>
              <a:rPr lang="en-US" sz="2000" b="1" dirty="0"/>
              <a:t>Storage Layer:</a:t>
            </a:r>
            <a:r>
              <a:rPr lang="en-US" sz="2000" dirty="0"/>
              <a:t> All uploaded images are securely stored in Firebase Cloud Storage.</a:t>
            </a:r>
          </a:p>
          <a:p>
            <a:r>
              <a:rPr lang="en-US" sz="2000" b="1" dirty="0"/>
              <a:t>Processing Layer:</a:t>
            </a:r>
            <a:r>
              <a:rPr lang="en-US" sz="2000" dirty="0"/>
              <a:t> The receipt image is passed through an OCR engine which extracts raw text.</a:t>
            </a:r>
          </a:p>
          <a:p>
            <a:r>
              <a:rPr lang="en-US" sz="2000" b="1" dirty="0"/>
              <a:t>AI Interpretation Layer:</a:t>
            </a:r>
            <a:r>
              <a:rPr lang="en-US" sz="2000" dirty="0"/>
              <a:t> AI analyzes extracted data, identifying key fields such as merchant, date, amount, tax, and category.</a:t>
            </a:r>
          </a:p>
          <a:p>
            <a:r>
              <a:rPr lang="en-US" sz="2000" b="1" dirty="0"/>
              <a:t>Backend Logic Layer:</a:t>
            </a:r>
            <a:r>
              <a:rPr lang="en-US" sz="2000" dirty="0"/>
              <a:t> Cloud Functions validate, format, and structure the extracted data.</a:t>
            </a:r>
          </a:p>
          <a:p>
            <a:r>
              <a:rPr lang="en-US" sz="2000" b="1" dirty="0"/>
              <a:t>Database Layer:</a:t>
            </a:r>
            <a:r>
              <a:rPr lang="en-US" sz="2000" dirty="0"/>
              <a:t> Structured data is saved in </a:t>
            </a:r>
            <a:r>
              <a:rPr lang="en-US" sz="2000" dirty="0" err="1"/>
              <a:t>Firestore</a:t>
            </a:r>
            <a:r>
              <a:rPr lang="en-US" sz="2000" dirty="0"/>
              <a:t> (NoSQL), enabling fast queries and real-time access.</a:t>
            </a:r>
          </a:p>
          <a:p>
            <a:r>
              <a:rPr lang="en-US" sz="2000" b="1" dirty="0"/>
              <a:t>Sync Layer:</a:t>
            </a:r>
            <a:r>
              <a:rPr lang="en-US" sz="2000" dirty="0"/>
              <a:t> Compares receipts with simulated wallet transactions to check for missing or duplicate entries.</a:t>
            </a:r>
          </a:p>
          <a:p>
            <a:r>
              <a:rPr lang="en-US" sz="2000" b="1" dirty="0"/>
              <a:t>Frontend Dashboard:</a:t>
            </a:r>
            <a:r>
              <a:rPr lang="en-US" sz="2000" dirty="0"/>
              <a:t> Users view receipts, summaries, and trends through an interactive interface.</a:t>
            </a:r>
          </a:p>
          <a:p>
            <a:endParaRPr lang="en-IN" sz="2000" dirty="0"/>
          </a:p>
        </p:txBody>
      </p:sp>
    </p:spTree>
    <p:extLst>
      <p:ext uri="{BB962C8B-B14F-4D97-AF65-F5344CB8AC3E}">
        <p14:creationId xmlns:p14="http://schemas.microsoft.com/office/powerpoint/2010/main" val="66866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EFC42AB-18CA-0963-DBE1-ABF7FDD5C215}"/>
              </a:ext>
            </a:extLst>
          </p:cNvPr>
          <p:cNvSpPr txBox="1"/>
          <p:nvPr/>
        </p:nvSpPr>
        <p:spPr>
          <a:xfrm>
            <a:off x="103413" y="1086655"/>
            <a:ext cx="9040585" cy="5293757"/>
          </a:xfrm>
          <a:prstGeom prst="rect">
            <a:avLst/>
          </a:prstGeom>
          <a:noFill/>
        </p:spPr>
        <p:txBody>
          <a:bodyPr wrap="square">
            <a:spAutoFit/>
          </a:bodyPr>
          <a:lstStyle/>
          <a:p>
            <a:r>
              <a:rPr lang="en-IN" sz="2000" b="1" dirty="0"/>
              <a:t>Phase 1: Ideation &amp; Requirement Gathering (Week 1–2)</a:t>
            </a:r>
          </a:p>
          <a:p>
            <a:r>
              <a:rPr lang="en-IN" sz="2000" dirty="0"/>
              <a:t>Research existing solutions, identify user pain points, study OCR technologies, and define core features.</a:t>
            </a:r>
          </a:p>
          <a:p>
            <a:r>
              <a:rPr lang="en-IN" sz="2000" b="1" dirty="0"/>
              <a:t>Phase 2: UI/UX Designing (Week 3–4)</a:t>
            </a:r>
          </a:p>
          <a:p>
            <a:r>
              <a:rPr lang="en-IN" sz="2000" dirty="0"/>
              <a:t>Wireframing, designing interfaces for upload, dashboard, receipt viewer, and analytics module.</a:t>
            </a:r>
          </a:p>
          <a:p>
            <a:r>
              <a:rPr lang="en-IN" sz="2000" b="1" dirty="0"/>
              <a:t>Phase 3: Frontend Development (Week 5–6)</a:t>
            </a:r>
          </a:p>
          <a:p>
            <a:r>
              <a:rPr lang="en-IN" sz="2000" dirty="0"/>
              <a:t>Implementing UI in HTML/CSS/JS or Flutter, creating user input forms, navigation structure, and responsive layout.</a:t>
            </a:r>
          </a:p>
          <a:p>
            <a:r>
              <a:rPr lang="en-IN" sz="2000" b="1" dirty="0"/>
              <a:t>Phase 4: OCR &amp; AI Integration (Week 7–8)</a:t>
            </a:r>
          </a:p>
          <a:p>
            <a:r>
              <a:rPr lang="en-IN" sz="2000" dirty="0"/>
              <a:t>Connecting OCR engine, training AI parsing logic, validating extraction accuracy.</a:t>
            </a:r>
          </a:p>
          <a:p>
            <a:r>
              <a:rPr lang="en-IN" sz="2000" b="1" dirty="0"/>
              <a:t>Phase 5: Backend &amp; Database (Week 9–10)</a:t>
            </a:r>
          </a:p>
          <a:p>
            <a:r>
              <a:rPr lang="en-IN" sz="2000" dirty="0"/>
              <a:t>Implementing Cloud Functions, </a:t>
            </a:r>
            <a:r>
              <a:rPr lang="en-IN" sz="2000" dirty="0" err="1"/>
              <a:t>Firestore</a:t>
            </a:r>
            <a:r>
              <a:rPr lang="en-IN" sz="2000" dirty="0"/>
              <a:t> collections, data sync logic, and security rules.</a:t>
            </a:r>
          </a:p>
          <a:p>
            <a:r>
              <a:rPr lang="en-IN" sz="2000" b="1" dirty="0"/>
              <a:t>Phase 6: Testing &amp; Deployment (Week 11–12)</a:t>
            </a:r>
          </a:p>
          <a:p>
            <a:r>
              <a:rPr lang="en-IN" sz="2000" dirty="0"/>
              <a:t>End-to-end testing, performance optimization, debugging errors, and final hosting.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49508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48D63-A79C-4BED-7A3A-CBDD1461DA6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DC12E2-BBD1-61DA-EAFB-DE26234BE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4739B973-7311-D684-2923-58AF0EA83F15}"/>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Next Steps and Goals</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C085181B-C8C8-938C-15E5-9C06C6DFBC5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3CACB72-2F05-90A1-D828-73C1A4984E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81DA3AC-7C12-B248-D9EB-80586D4519A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50C3238-490C-DAAF-9F17-F3D2CB94B462}"/>
              </a:ext>
            </a:extLst>
          </p:cNvPr>
          <p:cNvSpPr txBox="1"/>
          <p:nvPr/>
        </p:nvSpPr>
        <p:spPr>
          <a:xfrm>
            <a:off x="103414" y="837444"/>
            <a:ext cx="9040585" cy="5262979"/>
          </a:xfrm>
          <a:prstGeom prst="rect">
            <a:avLst/>
          </a:prstGeom>
          <a:noFill/>
        </p:spPr>
        <p:txBody>
          <a:bodyPr wrap="square">
            <a:spAutoFit/>
          </a:bodyPr>
          <a:lstStyle/>
          <a:p>
            <a:endParaRPr lang="en-US" sz="2400" dirty="0"/>
          </a:p>
          <a:p>
            <a:r>
              <a:rPr lang="en-US" sz="2400" dirty="0"/>
              <a:t>• Implement the receipt upload feature to allow users to capture or select receipt images.</a:t>
            </a:r>
            <a:br>
              <a:rPr lang="en-US" sz="2400" dirty="0"/>
            </a:br>
            <a:r>
              <a:rPr lang="en-US" sz="2400" dirty="0"/>
              <a:t>• Integrate OCR functionality to automatically read information from uploaded receipts.</a:t>
            </a:r>
            <a:br>
              <a:rPr lang="en-US" sz="2400" dirty="0"/>
            </a:br>
            <a:r>
              <a:rPr lang="en-US" sz="2400" dirty="0"/>
              <a:t>• Build the database structure for storing receipt details securely.</a:t>
            </a:r>
            <a:br>
              <a:rPr lang="en-US" sz="2400" dirty="0"/>
            </a:br>
            <a:r>
              <a:rPr lang="en-US" sz="2400" dirty="0"/>
              <a:t>• Develop the user dashboard where users can view all stored receipts.</a:t>
            </a:r>
            <a:br>
              <a:rPr lang="en-US" sz="2400" dirty="0"/>
            </a:br>
            <a:r>
              <a:rPr lang="en-US" sz="2400" dirty="0"/>
              <a:t>• Add category tagging for receipts so that expenses can be organized properly.</a:t>
            </a:r>
            <a:br>
              <a:rPr lang="en-US" sz="2400" dirty="0"/>
            </a:br>
            <a:r>
              <a:rPr lang="en-US" sz="2400" dirty="0"/>
              <a:t>• Implement search and filter options to help users quickly locate specific receipts.</a:t>
            </a:r>
            <a:br>
              <a:rPr lang="en-US" sz="2400" dirty="0"/>
            </a:br>
            <a:r>
              <a:rPr lang="en-US" sz="2400" dirty="0"/>
              <a:t>• Test the system with different types of receipt formats to ensure accuracy.</a:t>
            </a:r>
            <a:br>
              <a:rPr lang="en-US" sz="2400" dirty="0"/>
            </a:br>
            <a:r>
              <a:rPr lang="en-US" sz="2400" dirty="0"/>
              <a:t>• Improve the interface to make the system more user-friendly.</a:t>
            </a:r>
          </a:p>
        </p:txBody>
      </p:sp>
    </p:spTree>
    <p:extLst>
      <p:ext uri="{BB962C8B-B14F-4D97-AF65-F5344CB8AC3E}">
        <p14:creationId xmlns:p14="http://schemas.microsoft.com/office/powerpoint/2010/main" val="2307723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67A919E-7DB1-E6B8-D950-8901A88C816D}"/>
              </a:ext>
            </a:extLst>
          </p:cNvPr>
          <p:cNvSpPr txBox="1"/>
          <p:nvPr/>
        </p:nvSpPr>
        <p:spPr>
          <a:xfrm>
            <a:off x="153834" y="1125704"/>
            <a:ext cx="8918157" cy="5324535"/>
          </a:xfrm>
          <a:prstGeom prst="rect">
            <a:avLst/>
          </a:prstGeom>
          <a:noFill/>
        </p:spPr>
        <p:txBody>
          <a:bodyPr wrap="square">
            <a:spAutoFit/>
          </a:bodyPr>
          <a:lstStyle/>
          <a:p>
            <a:r>
              <a:rPr lang="en-US" sz="2000" dirty="0"/>
              <a:t>Smart Scan uses receipt data from camera uploads and digital files such as </a:t>
            </a:r>
            <a:r>
              <a:rPr lang="en-US" sz="2000" b="1" dirty="0"/>
              <a:t>JPEG, PNG, PDF, TIFF, HEIC, and HEIF</a:t>
            </a:r>
            <a:r>
              <a:rPr lang="en-US" sz="2000" dirty="0"/>
              <a:t>.</a:t>
            </a:r>
          </a:p>
          <a:p>
            <a:r>
              <a:rPr lang="en-US" sz="2000" dirty="0"/>
              <a:t>These receipts act as the main input for OCR extraction, identifying merchant name, date, total amount, VAT, and item details.</a:t>
            </a:r>
          </a:p>
          <a:p>
            <a:r>
              <a:rPr lang="en-US" sz="2000" dirty="0"/>
              <a:t>All uploaded receipt images are securely stored in </a:t>
            </a:r>
            <a:r>
              <a:rPr lang="en-US" sz="2000" b="1" dirty="0"/>
              <a:t>cloud storage</a:t>
            </a:r>
            <a:r>
              <a:rPr lang="en-US" sz="2000" dirty="0"/>
              <a:t> for long-term access.</a:t>
            </a:r>
          </a:p>
          <a:p>
            <a:r>
              <a:rPr lang="en-US" sz="2000" dirty="0"/>
              <a:t>Extracted structured data is saved in </a:t>
            </a:r>
            <a:r>
              <a:rPr lang="en-US" sz="2000" b="1" dirty="0" err="1"/>
              <a:t>Firestore</a:t>
            </a:r>
            <a:r>
              <a:rPr lang="en-US" sz="2000" b="1" dirty="0"/>
              <a:t> (NoSQL)</a:t>
            </a:r>
            <a:r>
              <a:rPr lang="en-US" sz="2000" dirty="0"/>
              <a:t> to enable fast retrieval, search, and organized storage.</a:t>
            </a:r>
          </a:p>
          <a:p>
            <a:r>
              <a:rPr lang="en-US" sz="2000" dirty="0"/>
              <a:t>The system uses </a:t>
            </a:r>
            <a:r>
              <a:rPr lang="en-US" sz="2000" b="1" dirty="0"/>
              <a:t>mock wallet transaction data</a:t>
            </a:r>
            <a:r>
              <a:rPr lang="en-US" sz="2000" dirty="0"/>
              <a:t> in </a:t>
            </a:r>
            <a:r>
              <a:rPr lang="en-US" sz="2000" dirty="0" err="1"/>
              <a:t>Firestore</a:t>
            </a:r>
            <a:r>
              <a:rPr lang="en-US" sz="2000" dirty="0"/>
              <a:t> to simulate wallet syncing and cross-verification.</a:t>
            </a:r>
          </a:p>
          <a:p>
            <a:r>
              <a:rPr lang="en-US" sz="2000" dirty="0"/>
              <a:t>Sample receipts are used for </a:t>
            </a:r>
            <a:r>
              <a:rPr lang="en-US" sz="2000" b="1" dirty="0"/>
              <a:t>testing accuracy</a:t>
            </a:r>
            <a:r>
              <a:rPr lang="en-US" sz="2000" dirty="0"/>
              <a:t>, improving extraction and categorization quality.</a:t>
            </a:r>
          </a:p>
          <a:p>
            <a:r>
              <a:rPr lang="en-US" sz="2000" b="1" dirty="0"/>
              <a:t>Google login authentication data</a:t>
            </a:r>
            <a:r>
              <a:rPr lang="en-US" sz="2000" dirty="0"/>
              <a:t> is maintained to ensure secure and user-specific access.</a:t>
            </a:r>
          </a:p>
          <a:p>
            <a:r>
              <a:rPr lang="en-US" sz="2000" dirty="0"/>
              <a:t>Cloud storage directories and </a:t>
            </a:r>
            <a:r>
              <a:rPr lang="en-US" sz="2000" dirty="0" err="1"/>
              <a:t>Firestore</a:t>
            </a:r>
            <a:r>
              <a:rPr lang="en-US" sz="2000" dirty="0"/>
              <a:t> collections help manage </a:t>
            </a:r>
            <a:r>
              <a:rPr lang="en-US" sz="2000" b="1" dirty="0"/>
              <a:t>user-based financial records</a:t>
            </a:r>
            <a:r>
              <a:rPr lang="en-US" sz="2000" dirty="0"/>
              <a:t> systematically.</a:t>
            </a:r>
          </a:p>
          <a:p>
            <a:pPr algn="l"/>
            <a:endParaRPr lang="en-US" sz="2000" b="0" i="0" dirty="0">
              <a:solidFill>
                <a:srgbClr val="374151"/>
              </a:solidFill>
              <a:effectLst/>
              <a:latin typeface="Söhne"/>
            </a:endParaRPr>
          </a:p>
        </p:txBody>
      </p:sp>
    </p:spTree>
    <p:extLst>
      <p:ext uri="{BB962C8B-B14F-4D97-AF65-F5344CB8AC3E}">
        <p14:creationId xmlns:p14="http://schemas.microsoft.com/office/powerpoint/2010/main" val="3449068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FA9F416-A234-C717-01A9-3950BCA589C7}"/>
              </a:ext>
            </a:extLst>
          </p:cNvPr>
          <p:cNvSpPr txBox="1"/>
          <p:nvPr/>
        </p:nvSpPr>
        <p:spPr>
          <a:xfrm>
            <a:off x="179512" y="1138572"/>
            <a:ext cx="8892480" cy="5632311"/>
          </a:xfrm>
          <a:prstGeom prst="rect">
            <a:avLst/>
          </a:prstGeom>
          <a:noFill/>
        </p:spPr>
        <p:txBody>
          <a:bodyPr wrap="square" rtlCol="0">
            <a:spAutoFit/>
          </a:bodyPr>
          <a:lstStyle/>
          <a:p>
            <a:r>
              <a:rPr lang="en-US" sz="2000" dirty="0"/>
              <a:t>Smart Scan is built to serve multiple types of users across individual, professional, and business environments:</a:t>
            </a:r>
          </a:p>
          <a:p>
            <a:r>
              <a:rPr lang="en-US" sz="2000" b="1" dirty="0"/>
              <a:t>Individuals:</a:t>
            </a:r>
            <a:r>
              <a:rPr lang="en-US" sz="2000" dirty="0"/>
              <a:t> Track household expenses, organize tax-related receipts, and maintain personal financial clarity.</a:t>
            </a:r>
          </a:p>
          <a:p>
            <a:r>
              <a:rPr lang="en-US" sz="2000" b="1" dirty="0"/>
              <a:t>Freelancers &amp; Contractors:</a:t>
            </a:r>
            <a:r>
              <a:rPr lang="en-US" sz="2000" dirty="0"/>
              <a:t> Manage project-wise spending, upload receipts instantly, and maintain proof for reimbursements and client billing.</a:t>
            </a:r>
          </a:p>
          <a:p>
            <a:r>
              <a:rPr lang="en-US" sz="2000" b="1" dirty="0"/>
              <a:t>Small Businesses:</a:t>
            </a:r>
            <a:r>
              <a:rPr lang="en-US" sz="2000" dirty="0"/>
              <a:t> Automate bookkeeping processes, collect receipts from multiple employees, and reduce accounting time.</a:t>
            </a:r>
          </a:p>
          <a:p>
            <a:r>
              <a:rPr lang="en-US" sz="2000" b="1" dirty="0"/>
              <a:t>Traveling Professionals:</a:t>
            </a:r>
            <a:r>
              <a:rPr lang="en-US" sz="2000" dirty="0"/>
              <a:t> Upload receipts on the go through mobile photo capture and eliminate the risk of losing critical documents.</a:t>
            </a:r>
          </a:p>
          <a:p>
            <a:r>
              <a:rPr lang="en-US" sz="2000" b="1" dirty="0"/>
              <a:t>Finance Teams:</a:t>
            </a:r>
            <a:r>
              <a:rPr lang="en-US" sz="2000" dirty="0"/>
              <a:t> Reduce audit time, validate expense reports, and cross-verify data with transaction records.</a:t>
            </a:r>
          </a:p>
          <a:p>
            <a:r>
              <a:rPr lang="en-US" sz="2000" b="1" dirty="0"/>
              <a:t>Project Scope </a:t>
            </a:r>
            <a:r>
              <a:rPr lang="en-US" sz="2000" dirty="0"/>
              <a:t>includes receipt capture, OCR processing, AI categorization, cloud-based storage, financial analytics, export options, and wallet sync. The system focuses on high-speed processing, reliable storage, and user-friendly access to financial records, making it suitable for both personal and semi-professional financial management.</a:t>
            </a:r>
          </a:p>
          <a:p>
            <a:endParaRPr lang="en-IN" sz="2000" dirty="0"/>
          </a:p>
        </p:txBody>
      </p:sp>
    </p:spTree>
    <p:extLst>
      <p:ext uri="{BB962C8B-B14F-4D97-AF65-F5344CB8AC3E}">
        <p14:creationId xmlns:p14="http://schemas.microsoft.com/office/powerpoint/2010/main" val="3295812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856984" cy="4401205"/>
          </a:xfrm>
          <a:prstGeom prst="rect">
            <a:avLst/>
          </a:prstGeom>
          <a:noFill/>
        </p:spPr>
        <p:txBody>
          <a:bodyPr wrap="square">
            <a:spAutoFit/>
          </a:bodyPr>
          <a:lstStyle/>
          <a:p>
            <a:r>
              <a:rPr lang="en-US" sz="2000" b="1" dirty="0"/>
              <a:t>Expected Results</a:t>
            </a:r>
          </a:p>
          <a:p>
            <a:r>
              <a:rPr lang="en-US" sz="2000" dirty="0"/>
              <a:t>Highly accurate extraction of key receipt elements using AI and OCR.</a:t>
            </a:r>
          </a:p>
          <a:p>
            <a:r>
              <a:rPr lang="en-US" sz="2000" dirty="0"/>
              <a:t>Organized receipt storage with instant retrieval and searchable fields.</a:t>
            </a:r>
          </a:p>
          <a:p>
            <a:r>
              <a:rPr lang="en-US" sz="2000" dirty="0"/>
              <a:t>Automatic categorization that reduces human error and speeds up bookkeeping.</a:t>
            </a:r>
          </a:p>
          <a:p>
            <a:r>
              <a:rPr lang="en-US" sz="2000" dirty="0"/>
              <a:t>Clear financial insights through dashboards, charts, and monthly summaries.</a:t>
            </a:r>
          </a:p>
          <a:p>
            <a:r>
              <a:rPr lang="en-US" sz="2000" dirty="0"/>
              <a:t>Smooth and secure user experience through Google login and </a:t>
            </a:r>
            <a:r>
              <a:rPr lang="en-US" sz="2000" dirty="0" err="1"/>
              <a:t>Firestore</a:t>
            </a:r>
            <a:r>
              <a:rPr lang="en-US" sz="2000" dirty="0"/>
              <a:t> integration.</a:t>
            </a:r>
          </a:p>
          <a:p>
            <a:endParaRPr lang="en-US" sz="2000" b="1" dirty="0"/>
          </a:p>
          <a:p>
            <a:r>
              <a:rPr lang="en-US" sz="2000" b="1" dirty="0"/>
              <a:t>Impact</a:t>
            </a:r>
          </a:p>
          <a:p>
            <a:r>
              <a:rPr lang="en-US" sz="2000" dirty="0"/>
              <a:t>Smart Scan helps individuals and businesses transition from manual, paper-based finance tracking to a fully automated digital system. It improves productivity, supports data-driven decision-making, and reduces the possibility of financial mismanagement. The system also enhances environmental sustainability by reducing paper usage and promotes a modern, technology-driven approach to personal finance.</a:t>
            </a:r>
          </a:p>
        </p:txBody>
      </p:sp>
    </p:spTree>
    <p:extLst>
      <p:ext uri="{BB962C8B-B14F-4D97-AF65-F5344CB8AC3E}">
        <p14:creationId xmlns:p14="http://schemas.microsoft.com/office/powerpoint/2010/main" val="256260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6113</TotalTime>
  <Words>2201</Words>
  <Application>Microsoft Office PowerPoint</Application>
  <PresentationFormat>On-screen Show (4:3)</PresentationFormat>
  <Paragraphs>139</Paragraphs>
  <Slides>16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Cambria</vt:lpstr>
      <vt:lpstr>Garamond</vt:lpstr>
      <vt:lpstr>Söhne</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Vansh Dahiya</cp:lastModifiedBy>
  <cp:revision>309</cp:revision>
  <cp:lastPrinted>2022-09-05T08:43:44Z</cp:lastPrinted>
  <dcterms:created xsi:type="dcterms:W3CDTF">2020-01-16T09:05:56Z</dcterms:created>
  <dcterms:modified xsi:type="dcterms:W3CDTF">2026-03-06T09:19:47Z</dcterms:modified>
</cp:coreProperties>
</file>